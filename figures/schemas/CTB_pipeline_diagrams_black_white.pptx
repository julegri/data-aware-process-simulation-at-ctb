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12547f40e7430b" /><Relationship Type="http://schemas.openxmlformats.org/officeDocument/2006/relationships/extended-properties" Target="/docProps/app.xml" Id="R6f9041d3804146db" /><Relationship Type="http://schemas.openxmlformats.org/officeDocument/2006/relationships/officeDocument" Target="/ppt/presentation.xml" Id="Rcb586182bacb4f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59949d9692481c"/>
  </p:sldMasterIdLst>
  <p:notesMasterIdLst>
    <p:notesMasterId xmlns:r="http://schemas.openxmlformats.org/officeDocument/2006/relationships" r:id="R4d78af0b76514118"/>
  </p:notesMasterIdLst>
  <p:sldIdLst>
    <p:sldId xmlns:r="http://schemas.openxmlformats.org/officeDocument/2006/relationships" id="256" r:id="Ra774fce765094b1a"/>
    <p:sldId xmlns:r="http://schemas.openxmlformats.org/officeDocument/2006/relationships" id="257" r:id="Rf3cbea5842864a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8e465b4a9a4701" /><Relationship Type="http://schemas.openxmlformats.org/officeDocument/2006/relationships/slideMaster" Target="/ppt/slideMasters/slideMaster1.xml" Id="R9859949d9692481c" /><Relationship Type="http://schemas.openxmlformats.org/officeDocument/2006/relationships/notesMaster" Target="/ppt/notesMasters/notesMaster1.xml" Id="R4d78af0b76514118" /><Relationship Type="http://schemas.openxmlformats.org/officeDocument/2006/relationships/presProps" Target="/ppt/presProps.xml" Id="Rdaa59d27ecff4b43" /><Relationship Type="http://schemas.openxmlformats.org/officeDocument/2006/relationships/tableStyles" Target="/ppt/tableStyles.xml" Id="Ra840698d57fb4ef9" /><Relationship Type="http://schemas.openxmlformats.org/officeDocument/2006/relationships/slide" Target="/ppt/slides/slide1.xml" Id="Ra774fce765094b1a" /><Relationship Type="http://schemas.openxmlformats.org/officeDocument/2006/relationships/slide" Target="/ppt/slides/slide2.xml" Id="Rf3cbea5842864a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d8840e829440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242424"/>
      </a:dk2>
      <a:lt2>
        <a:srgbClr val="E8E8E8"/>
      </a:lt2>
      <a:accent1>
        <a:srgbClr val="535353"/>
      </a:accent1>
      <a:accent2>
        <a:srgbClr val="868686"/>
      </a:accent2>
      <a:accent3>
        <a:srgbClr val="545454"/>
      </a:accent3>
      <a:accent4>
        <a:srgbClr val="848484"/>
      </a:accent4>
      <a:accent5>
        <a:srgbClr val="4B4B4B"/>
      </a:accent5>
      <a:accent6>
        <a:srgbClr val="8B8B8B"/>
      </a:accent6>
      <a:hlink>
        <a:srgbClr val="6E6E6E"/>
      </a:hlink>
      <a:folHlink>
        <a:srgbClr val="6E6E6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18a883a30d470d" /><Relationship Type="http://schemas.openxmlformats.org/officeDocument/2006/relationships/notesMaster" Target="/ppt/notesMasters/notesMaster1.xml" Id="R107983ee5ba849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fbfd2af2324daf" /><Relationship Type="http://schemas.openxmlformats.org/officeDocument/2006/relationships/notesMaster" Target="/ppt/notesMasters/notesMaster1.xml" Id="R638fa9efc27a4d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 Chapter 3: Case Study and Data Engineering (project workspace)</a:t>
            </a:r>
          </a:p>
          <a:p xmlns:a="http://schemas.openxmlformats.org/drawingml/2006/main">
            <a:r>
              <a:t>- User-provided pipeline screenshots used as visual references only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 Chapter 4: Experiments and Evaluation Framework (project workspace)</a:t>
            </a:r>
          </a:p>
          <a:p xmlns:a="http://schemas.openxmlformats.org/drawingml/2006/main">
            <a:r>
              <a:t>- User-provided pipeline screenshots used as visual references only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74ac1f37404b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831a704fd7483d" /><Relationship Type="http://schemas.openxmlformats.org/officeDocument/2006/relationships/slideLayout" Target="/ppt/slideLayouts/slideLayout1.xml" Id="R578d249852dd41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8d249852dd41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242424"/>
      </a:dk2>
      <a:lt2>
        <a:srgbClr val="E8E8E8"/>
      </a:lt2>
      <a:accent1>
        <a:srgbClr val="535353"/>
      </a:accent1>
      <a:accent2>
        <a:srgbClr val="868686"/>
      </a:accent2>
      <a:accent3>
        <a:srgbClr val="545454"/>
      </a:accent3>
      <a:accent4>
        <a:srgbClr val="848484"/>
      </a:accent4>
      <a:accent5>
        <a:srgbClr val="4B4B4B"/>
      </a:accent5>
      <a:accent6>
        <a:srgbClr val="8B8B8B"/>
      </a:accent6>
      <a:hlink>
        <a:srgbClr val="6E6E6E"/>
      </a:hlink>
      <a:folHlink>
        <a:srgbClr val="6E6E6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2179f31e64157" /><Relationship Type="http://schemas.openxmlformats.org/officeDocument/2006/relationships/notesSlide" Target="/ppt/notesSlides/notesSlide1.xml" Id="Rb4737d92c09946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f75f1146648af" /><Relationship Type="http://schemas.openxmlformats.org/officeDocument/2006/relationships/notesSlide" Target="/ppt/notesSlides/notesSlide2.xml" Id="R40fd16e86db543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event-log-engineering-label">
            <a:extLst xmlns:a="http://schemas.openxmlformats.org/drawingml/2006/main">
              <a:ext uri="{FF2B5EF4-FFF2-40B4-BE49-F238E27FC236}">
                <a16:creationId xmlns:a16="http://schemas.microsoft.com/office/drawing/2014/main" id="{C6B37C38-CA88-40F4-8FB4-C4F528FA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D5D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5D5D"/>
                </a:solidFill>
                <a:latin typeface="Arial"/>
                <a:ea typeface="Arial"/>
                <a:cs typeface="Arial"/>
              </a:rPr>
              <a:t>EVENT-LOG ENGINEERING</a:t>
            </a:r>
          </a:p>
        </p:txBody>
      </p:sp>
      <p:sp>
        <p:nvSpPr>
          <p:cNvPr id="2" name="event-log-engineering-rule">
            <a:extLst xmlns:a="http://schemas.openxmlformats.org/drawingml/2006/main">
              <a:ext uri="{FF2B5EF4-FFF2-40B4-BE49-F238E27FC236}">
                <a16:creationId xmlns:a16="http://schemas.microsoft.com/office/drawing/2014/main" id="{FEC5DBBB-C6EB-4F3B-9388-01C8689B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9E9"/>
            </a:solidFill>
            <a:prstDash val="solid"/>
          </a:ln>
        </p:spPr>
      </p:sp>
      <p:sp>
        <p:nvSpPr>
          <p:cNvPr id="3" name="sources-anchor">
            <a:extLst xmlns:a="http://schemas.openxmlformats.org/drawingml/2006/main">
              <a:ext uri="{FF2B5EF4-FFF2-40B4-BE49-F238E27FC236}">
                <a16:creationId xmlns:a16="http://schemas.microsoft.com/office/drawing/2014/main" id="{FC02B011-BA08-4B21-B43A-215EA3C2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504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clean-anchor">
            <a:extLst xmlns:a="http://schemas.openxmlformats.org/drawingml/2006/main">
              <a:ext uri="{FF2B5EF4-FFF2-40B4-BE49-F238E27FC236}">
                <a16:creationId xmlns:a16="http://schemas.microsoft.com/office/drawing/2014/main" id="{AFB529F5-45E8-46C1-91C2-15065E56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428750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integrate-anchor">
            <a:extLst xmlns:a="http://schemas.openxmlformats.org/drawingml/2006/main">
              <a:ext uri="{FF2B5EF4-FFF2-40B4-BE49-F238E27FC236}">
                <a16:creationId xmlns:a16="http://schemas.microsoft.com/office/drawing/2014/main" id="{00526C65-06C6-4205-A152-8B327B27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428750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cases-anchor">
            <a:extLst xmlns:a="http://schemas.openxmlformats.org/drawingml/2006/main">
              <a:ext uri="{FF2B5EF4-FFF2-40B4-BE49-F238E27FC236}">
                <a16:creationId xmlns:a16="http://schemas.microsoft.com/office/drawing/2014/main" id="{7A04ECF8-6099-4A60-AF4B-BD8A480E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428750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lifecycle-anchor">
            <a:extLst xmlns:a="http://schemas.openxmlformats.org/drawingml/2006/main">
              <a:ext uri="{FF2B5EF4-FFF2-40B4-BE49-F238E27FC236}">
                <a16:creationId xmlns:a16="http://schemas.microsoft.com/office/drawing/2014/main" id="{A0209A92-03CC-45AF-B7F8-7C3344FF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428750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context-anchor">
            <a:extLst xmlns:a="http://schemas.openxmlformats.org/drawingml/2006/main">
              <a:ext uri="{FF2B5EF4-FFF2-40B4-BE49-F238E27FC236}">
                <a16:creationId xmlns:a16="http://schemas.microsoft.com/office/drawing/2014/main" id="{187E234F-B701-4E25-9435-94982279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000500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quality-anchor">
            <a:extLst xmlns:a="http://schemas.openxmlformats.org/drawingml/2006/main">
              <a:ext uri="{FF2B5EF4-FFF2-40B4-BE49-F238E27FC236}">
                <a16:creationId xmlns:a16="http://schemas.microsoft.com/office/drawing/2014/main" id="{423BBD31-ED1C-478F-AD57-4A6A190F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00500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export-anchor">
            <a:extLst xmlns:a="http://schemas.openxmlformats.org/drawingml/2006/main">
              <a:ext uri="{FF2B5EF4-FFF2-40B4-BE49-F238E27FC236}">
                <a16:creationId xmlns:a16="http://schemas.microsoft.com/office/drawing/2014/main" id="{FF7C8FF0-25DD-446F-9965-B989DF40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00500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output-anchor">
            <a:extLst xmlns:a="http://schemas.openxmlformats.org/drawingml/2006/main">
              <a:ext uri="{FF2B5EF4-FFF2-40B4-BE49-F238E27FC236}">
                <a16:creationId xmlns:a16="http://schemas.microsoft.com/office/drawing/2014/main" id="{DDD45645-634F-4E7C-B090-8DD9864A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00500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3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1905000" y="1800225"/>
            <a:ext cx="523875" cy="95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381500" y="18002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762750" y="18002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144000" y="18002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7" idx="3"/>
            <a:endCxn xmlns:a="http://schemas.openxmlformats.org/drawingml/2006/main" id="8" idx="3"/>
          </p:cNvCxnSpPr>
          <p:nvPr/>
        </p:nvCxnSpPr>
        <p:spPr>
          <a:xfrm xmlns:a="http://schemas.openxmlformats.org/drawingml/2006/main">
            <a:off x="11525250" y="1800225"/>
            <a:ext cx="228600" cy="2571750"/>
          </a:xfrm>
          <a:prstGeom xmlns:a="http://schemas.openxmlformats.org/drawingml/2006/main" prst="bentConnector4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9144000" y="43719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6762750" y="43719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4381500" y="43719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sp>
        <p:nvSpPr>
          <p:cNvPr id="20" name="source-database-1">
            <a:extLst xmlns:a="http://schemas.openxmlformats.org/drawingml/2006/main">
              <a:ext uri="{FF2B5EF4-FFF2-40B4-BE49-F238E27FC236}">
                <a16:creationId xmlns:a16="http://schemas.microsoft.com/office/drawing/2014/main" id="{881D9A02-D4BF-483C-B429-7E36F580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600075" cy="4762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5D5D5D"/>
          </a:solidFill>
          <a:ln xmlns:a="http://schemas.openxmlformats.org/drawingml/2006/main" w="1714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ITS</a:t>
            </a:r>
          </a:p>
        </p:txBody>
      </p:sp>
      <p:sp>
        <p:nvSpPr>
          <p:cNvPr id="21" name="source-database-2">
            <a:extLst xmlns:a="http://schemas.openxmlformats.org/drawingml/2006/main">
              <a:ext uri="{FF2B5EF4-FFF2-40B4-BE49-F238E27FC236}">
                <a16:creationId xmlns:a16="http://schemas.microsoft.com/office/drawing/2014/main" id="{3E235115-C14D-46CB-B160-0BA861DC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181100"/>
            <a:ext cx="600075" cy="4762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5D5D5D"/>
          </a:solidFill>
          <a:ln xmlns:a="http://schemas.openxmlformats.org/drawingml/2006/main" w="1714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22" name="source-database-3">
            <a:extLst xmlns:a="http://schemas.openxmlformats.org/drawingml/2006/main">
              <a:ext uri="{FF2B5EF4-FFF2-40B4-BE49-F238E27FC236}">
                <a16:creationId xmlns:a16="http://schemas.microsoft.com/office/drawing/2014/main" id="{4AE336F4-9671-42B3-928A-9EB272A2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28800"/>
            <a:ext cx="600075" cy="4762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5D5D5D"/>
          </a:solidFill>
          <a:ln xmlns:a="http://schemas.openxmlformats.org/drawingml/2006/main" w="1714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Yard</a:t>
            </a:r>
          </a:p>
        </p:txBody>
      </p:sp>
      <p:sp>
        <p:nvSpPr>
          <p:cNvPr id="23" name="source-database-4">
            <a:extLst xmlns:a="http://schemas.openxmlformats.org/drawingml/2006/main">
              <a:ext uri="{FF2B5EF4-FFF2-40B4-BE49-F238E27FC236}">
                <a16:creationId xmlns:a16="http://schemas.microsoft.com/office/drawing/2014/main" id="{D66556E3-F809-4F78-B3CF-B8584A81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28800"/>
            <a:ext cx="600075" cy="4762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5D5D5D"/>
          </a:solidFill>
          <a:ln xmlns:a="http://schemas.openxmlformats.org/drawingml/2006/main" w="1714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Master</a:t>
            </a:r>
          </a:p>
        </p:txBody>
      </p:sp>
      <p:sp>
        <p:nvSpPr>
          <p:cNvPr id="24" name="source-description">
            <a:extLst xmlns:a="http://schemas.openxmlformats.org/drawingml/2006/main">
              <a:ext uri="{FF2B5EF4-FFF2-40B4-BE49-F238E27FC236}">
                <a16:creationId xmlns:a16="http://schemas.microsoft.com/office/drawing/2014/main" id="{DAE604C2-6803-4412-B499-753149BB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193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16161"/>
                </a:solidFill>
                <a:latin typeface="Arial"/>
                <a:ea typeface="Arial"/>
                <a:cs typeface="Arial"/>
              </a:rPr>
              <a:t>Operational source tables</a:t>
            </a:r>
          </a:p>
        </p:txBody>
      </p:sp>
      <p:sp>
        <p:nvSpPr>
          <p:cNvPr id="25" name="clean-and-harmonise">
            <a:extLst xmlns:a="http://schemas.openxmlformats.org/drawingml/2006/main">
              <a:ext uri="{FF2B5EF4-FFF2-40B4-BE49-F238E27FC236}">
                <a16:creationId xmlns:a16="http://schemas.microsoft.com/office/drawing/2014/main" id="{37ED33DA-7388-42F1-8E75-4058E30E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428750"/>
            <a:ext cx="1952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Clean and harmonise</a:t>
            </a:r>
          </a:p>
        </p:txBody>
      </p:sp>
      <p:sp>
        <p:nvSpPr>
          <p:cNvPr id="26" name="clean-and-harmonise-description">
            <a:extLst xmlns:a="http://schemas.openxmlformats.org/drawingml/2006/main">
              <a:ext uri="{FF2B5EF4-FFF2-40B4-BE49-F238E27FC236}">
                <a16:creationId xmlns:a16="http://schemas.microsoft.com/office/drawing/2014/main" id="{C9C7A766-E336-46C6-AA5D-A02FEA61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238375"/>
            <a:ext cx="2028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8435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Remove invalid cases; standardise identifiers and timestamps</a:t>
            </a:r>
          </a:p>
        </p:txBody>
      </p:sp>
      <p:sp>
        <p:nvSpPr>
          <p:cNvPr id="27" name="integrate-systems">
            <a:extLst xmlns:a="http://schemas.openxmlformats.org/drawingml/2006/main">
              <a:ext uri="{FF2B5EF4-FFF2-40B4-BE49-F238E27FC236}">
                <a16:creationId xmlns:a16="http://schemas.microsoft.com/office/drawing/2014/main" id="{EA409F1E-12B3-4CC0-BA24-479E0FBE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428750"/>
            <a:ext cx="1952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Integrate systems</a:t>
            </a:r>
          </a:p>
        </p:txBody>
      </p:sp>
      <p:sp>
        <p:nvSpPr>
          <p:cNvPr id="28" name="integrate-systems-description">
            <a:extLst xmlns:a="http://schemas.openxmlformats.org/drawingml/2006/main">
              <a:ext uri="{FF2B5EF4-FFF2-40B4-BE49-F238E27FC236}">
                <a16:creationId xmlns:a16="http://schemas.microsoft.com/office/drawing/2014/main" id="{6EDAAA82-B195-4E1B-8C26-55359C7D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238375"/>
            <a:ext cx="2028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Match visits, container records and nearest yard snapshots</a:t>
            </a:r>
          </a:p>
        </p:txBody>
      </p:sp>
      <p:sp>
        <p:nvSpPr>
          <p:cNvPr id="29" name="define-cases">
            <a:extLst xmlns:a="http://schemas.openxmlformats.org/drawingml/2006/main">
              <a:ext uri="{FF2B5EF4-FFF2-40B4-BE49-F238E27FC236}">
                <a16:creationId xmlns:a16="http://schemas.microsoft.com/office/drawing/2014/main" id="{6A19B67C-7065-42DF-BAC0-8CD6E3BF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428750"/>
            <a:ext cx="1952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Define cases</a:t>
            </a:r>
          </a:p>
        </p:txBody>
      </p:sp>
      <p:sp>
        <p:nvSpPr>
          <p:cNvPr id="30" name="define-cases-description">
            <a:extLst xmlns:a="http://schemas.openxmlformats.org/drawingml/2006/main">
              <a:ext uri="{FF2B5EF4-FFF2-40B4-BE49-F238E27FC236}">
                <a16:creationId xmlns:a16="http://schemas.microsoft.com/office/drawing/2014/main" id="{2F50FBF7-1FBE-4EBC-A620-CD451945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238375"/>
            <a:ext cx="2028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One truck visit = one case; retain one-RMG-block visits</a:t>
            </a:r>
          </a:p>
        </p:txBody>
      </p:sp>
      <p:sp>
        <p:nvSpPr>
          <p:cNvPr id="31" name="construct-lifecycle">
            <a:extLst xmlns:a="http://schemas.openxmlformats.org/drawingml/2006/main">
              <a:ext uri="{FF2B5EF4-FFF2-40B4-BE49-F238E27FC236}">
                <a16:creationId xmlns:a16="http://schemas.microsoft.com/office/drawing/2014/main" id="{CF7172B9-E4BD-45A4-9C86-41B7B754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428750"/>
            <a:ext cx="1952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Build activities and lifecycle</a:t>
            </a:r>
          </a:p>
        </p:txBody>
      </p:sp>
      <p:sp>
        <p:nvSpPr>
          <p:cNvPr id="32" name="construct-lifecycle-description">
            <a:extLst xmlns:a="http://schemas.openxmlformats.org/drawingml/2006/main">
              <a:ext uri="{FF2B5EF4-FFF2-40B4-BE49-F238E27FC236}">
                <a16:creationId xmlns:a16="http://schemas.microsoft.com/office/drawing/2014/main" id="{92238F0E-DAB8-41C4-8D4A-541A782A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238375"/>
            <a:ext cx="2028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9189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Gate In, yard handling and Gate Out with start/complete times</a:t>
            </a:r>
          </a:p>
        </p:txBody>
      </p:sp>
      <p:sp>
        <p:nvSpPr>
          <p:cNvPr id="33" name="context-enrichment">
            <a:extLst xmlns:a="http://schemas.openxmlformats.org/drawingml/2006/main">
              <a:ext uri="{FF2B5EF4-FFF2-40B4-BE49-F238E27FC236}">
                <a16:creationId xmlns:a16="http://schemas.microsoft.com/office/drawing/2014/main" id="{B22CAF2D-CCDB-401C-AAFB-3CB31DF1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000500"/>
            <a:ext cx="1952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Enrich context</a:t>
            </a:r>
          </a:p>
        </p:txBody>
      </p:sp>
      <p:sp>
        <p:nvSpPr>
          <p:cNvPr id="34" name="context-enrichment-description">
            <a:extLst xmlns:a="http://schemas.openxmlformats.org/drawingml/2006/main">
              <a:ext uri="{FF2B5EF4-FFF2-40B4-BE49-F238E27FC236}">
                <a16:creationId xmlns:a16="http://schemas.microsoft.com/office/drawing/2014/main" id="{21EA779C-F37E-4ADD-A500-58237598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810125"/>
            <a:ext cx="2028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8524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Manifest, container, demand, utilisation, target and time features</a:t>
            </a:r>
          </a:p>
        </p:txBody>
      </p:sp>
      <p:sp>
        <p:nvSpPr>
          <p:cNvPr id="35" name="quality-validation">
            <a:extLst xmlns:a="http://schemas.openxmlformats.org/drawingml/2006/main">
              <a:ext uri="{FF2B5EF4-FFF2-40B4-BE49-F238E27FC236}">
                <a16:creationId xmlns:a16="http://schemas.microsoft.com/office/drawing/2014/main" id="{BEAC6229-A122-4DED-8971-E37ED0FC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00500"/>
            <a:ext cx="1952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Validate event log</a:t>
            </a:r>
          </a:p>
        </p:txBody>
      </p:sp>
      <p:sp>
        <p:nvSpPr>
          <p:cNvPr id="36" name="quality-validation-description">
            <a:extLst xmlns:a="http://schemas.openxmlformats.org/drawingml/2006/main">
              <a:ext uri="{FF2B5EF4-FFF2-40B4-BE49-F238E27FC236}">
                <a16:creationId xmlns:a16="http://schemas.microsoft.com/office/drawing/2014/main" id="{FE06CDEC-65BE-445E-AA7F-9155B1C4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810125"/>
            <a:ext cx="2028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Check completeness, order, duplicates, durations and trace contract</a:t>
            </a:r>
          </a:p>
        </p:txBody>
      </p:sp>
      <p:sp>
        <p:nvSpPr>
          <p:cNvPr id="37" name="export-formats">
            <a:extLst xmlns:a="http://schemas.openxmlformats.org/drawingml/2006/main">
              <a:ext uri="{FF2B5EF4-FFF2-40B4-BE49-F238E27FC236}">
                <a16:creationId xmlns:a16="http://schemas.microsoft.com/office/drawing/2014/main" id="{AD85BA3B-DF56-493E-BC34-A93FF3F9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00500"/>
            <a:ext cx="1952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Export formats</a:t>
            </a:r>
          </a:p>
        </p:txBody>
      </p:sp>
      <p:sp>
        <p:nvSpPr>
          <p:cNvPr id="38" name="export-formats-description">
            <a:extLst xmlns:a="http://schemas.openxmlformats.org/drawingml/2006/main">
              <a:ext uri="{FF2B5EF4-FFF2-40B4-BE49-F238E27FC236}">
                <a16:creationId xmlns:a16="http://schemas.microsoft.com/office/drawing/2014/main" id="{9D243B8F-ACE9-4AB1-88DB-56C58131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810125"/>
            <a:ext cx="2028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CSV for the pipeline; XES for process-mining tools</a:t>
            </a:r>
          </a:p>
        </p:txBody>
      </p:sp>
      <p:sp>
        <p:nvSpPr>
          <p:cNvPr id="39" name="simulation-ready-log">
            <a:extLst xmlns:a="http://schemas.openxmlformats.org/drawingml/2006/main">
              <a:ext uri="{FF2B5EF4-FFF2-40B4-BE49-F238E27FC236}">
                <a16:creationId xmlns:a16="http://schemas.microsoft.com/office/drawing/2014/main" id="{BEF085B9-D47D-42AB-AE82-AB39F8D0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00500"/>
            <a:ext cx="1952625" cy="7429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5D5D5D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823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Simulation-ready event log</a:t>
            </a:r>
          </a:p>
        </p:txBody>
      </p:sp>
      <p:sp>
        <p:nvSpPr>
          <p:cNvPr id="40" name="simulation-ready-log-description">
            <a:extLst xmlns:a="http://schemas.openxmlformats.org/drawingml/2006/main">
              <a:ext uri="{FF2B5EF4-FFF2-40B4-BE49-F238E27FC236}">
                <a16:creationId xmlns:a16="http://schemas.microsoft.com/office/drawing/2014/main" id="{588D5194-ABD6-4493-9609-3C753FDF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810125"/>
            <a:ext cx="2028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89,460 cases and 275,408 events</a:t>
            </a:r>
          </a:p>
        </p:txBody>
      </p:sp>
      <p:sp>
        <p:nvSpPr>
          <p:cNvPr id="41" name="engineering-bubble-context">
            <a:extLst xmlns:a="http://schemas.openxmlformats.org/drawingml/2006/main">
              <a:ext uri="{FF2B5EF4-FFF2-40B4-BE49-F238E27FC236}">
                <a16:creationId xmlns:a16="http://schemas.microsoft.com/office/drawing/2014/main" id="{0FF27C7D-363E-4888-80A3-25815BE0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505200"/>
            <a:ext cx="1381125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3335">
            <a:solidFill>
              <a:srgbClr val="5D5D5D"/>
            </a:solidFill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6728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D5D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5D5D"/>
                </a:solidFill>
                <a:latin typeface="Arial"/>
                <a:ea typeface="Arial"/>
                <a:cs typeface="Arial"/>
              </a:rPr>
              <a:t>case-level context</a:t>
            </a:r>
          </a:p>
        </p:txBody>
      </p:sp>
      <p:sp>
        <p:nvSpPr>
          <p:cNvPr id="42" name="engineering-bubble-contract">
            <a:extLst xmlns:a="http://schemas.openxmlformats.org/drawingml/2006/main">
              <a:ext uri="{FF2B5EF4-FFF2-40B4-BE49-F238E27FC236}">
                <a16:creationId xmlns:a16="http://schemas.microsoft.com/office/drawing/2014/main" id="{34190D7A-5D3B-49F3-BA9D-DB5DEFC8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05200"/>
            <a:ext cx="1381125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3335">
            <a:solidFill>
              <a:srgbClr val="5D5D5D"/>
            </a:solidFill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7763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D5D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5D5D"/>
                </a:solidFill>
                <a:latin typeface="Arial"/>
                <a:ea typeface="Arial"/>
                <a:cs typeface="Arial"/>
              </a:rPr>
              <a:t>quality contract</a:t>
            </a:r>
          </a:p>
        </p:txBody>
      </p:sp>
    </p:spTree>
    <p:extLst>
      <p:ext uri="{BB962C8B-B14F-4D97-AF65-F5344CB8AC3E}">
        <p14:creationId xmlns:p14="http://schemas.microsoft.com/office/powerpoint/2010/main" val="17770710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experiments-and-evaluation-label">
            <a:extLst xmlns:a="http://schemas.openxmlformats.org/drawingml/2006/main">
              <a:ext uri="{FF2B5EF4-FFF2-40B4-BE49-F238E27FC236}">
                <a16:creationId xmlns:a16="http://schemas.microsoft.com/office/drawing/2014/main" id="{74B91258-B0D1-4247-872D-2189F99B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D5D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5D5D"/>
                </a:solidFill>
                <a:latin typeface="Arial"/>
                <a:ea typeface="Arial"/>
                <a:cs typeface="Arial"/>
              </a:rPr>
              <a:t>EXPERIMENTS AND EVALUATION</a:t>
            </a:r>
          </a:p>
        </p:txBody>
      </p:sp>
      <p:sp>
        <p:nvSpPr>
          <p:cNvPr id="2" name="experiments-and-evaluation-rule">
            <a:extLst xmlns:a="http://schemas.openxmlformats.org/drawingml/2006/main">
              <a:ext uri="{FF2B5EF4-FFF2-40B4-BE49-F238E27FC236}">
                <a16:creationId xmlns:a16="http://schemas.microsoft.com/office/drawing/2014/main" id="{A312B594-2D4F-48C1-B069-CDE53614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9E9"/>
            </a:solidFill>
            <a:prstDash val="solid"/>
          </a:ln>
        </p:spPr>
      </p:sp>
      <p:sp>
        <p:nvSpPr>
          <p:cNvPr id="3" name="input-anchor">
            <a:extLst xmlns:a="http://schemas.openxmlformats.org/drawingml/2006/main">
              <a:ext uri="{FF2B5EF4-FFF2-40B4-BE49-F238E27FC236}">
                <a16:creationId xmlns:a16="http://schemas.microsoft.com/office/drawing/2014/main" id="{10937771-3A3B-4ECF-986D-5348F3D1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split-anchor">
            <a:extLst xmlns:a="http://schemas.openxmlformats.org/drawingml/2006/main">
              <a:ext uri="{FF2B5EF4-FFF2-40B4-BE49-F238E27FC236}">
                <a16:creationId xmlns:a16="http://schemas.microsoft.com/office/drawing/2014/main" id="{8712BDD9-3F1D-4028-B173-2CA64225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14300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miner-anchor">
            <a:extLst xmlns:a="http://schemas.openxmlformats.org/drawingml/2006/main">
              <a:ext uri="{FF2B5EF4-FFF2-40B4-BE49-F238E27FC236}">
                <a16:creationId xmlns:a16="http://schemas.microsoft.com/office/drawing/2014/main" id="{F673B1BF-C8BE-4922-B188-52CC608B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14300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audit-anchor">
            <a:extLst xmlns:a="http://schemas.openxmlformats.org/drawingml/2006/main">
              <a:ext uri="{FF2B5EF4-FFF2-40B4-BE49-F238E27FC236}">
                <a16:creationId xmlns:a16="http://schemas.microsoft.com/office/drawing/2014/main" id="{63FEADAC-3FA5-4CAA-B135-84ABACF6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14300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trie-anchor">
            <a:extLst xmlns:a="http://schemas.openxmlformats.org/drawingml/2006/main">
              <a:ext uri="{FF2B5EF4-FFF2-40B4-BE49-F238E27FC236}">
                <a16:creationId xmlns:a16="http://schemas.microsoft.com/office/drawing/2014/main" id="{AA222AE1-8CD1-4E70-B614-B5CA1E8C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14300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prosit-anchor">
            <a:extLst xmlns:a="http://schemas.openxmlformats.org/drawingml/2006/main">
              <a:ext uri="{FF2B5EF4-FFF2-40B4-BE49-F238E27FC236}">
                <a16:creationId xmlns:a16="http://schemas.microsoft.com/office/drawing/2014/main" id="{58258672-523D-4465-92E6-2CAD2BF3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95625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freeze-anchor">
            <a:extLst xmlns:a="http://schemas.openxmlformats.org/drawingml/2006/main">
              <a:ext uri="{FF2B5EF4-FFF2-40B4-BE49-F238E27FC236}">
                <a16:creationId xmlns:a16="http://schemas.microsoft.com/office/drawing/2014/main" id="{C526C1C7-E5C7-476C-8D15-FE45BAAA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956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simulate-anchor">
            <a:extLst xmlns:a="http://schemas.openxmlformats.org/drawingml/2006/main">
              <a:ext uri="{FF2B5EF4-FFF2-40B4-BE49-F238E27FC236}">
                <a16:creationId xmlns:a16="http://schemas.microsoft.com/office/drawing/2014/main" id="{2AAAFFB3-D2BA-42F4-898E-F94B33E8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956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evaluate-anchor">
            <a:extLst xmlns:a="http://schemas.openxmlformats.org/drawingml/2006/main">
              <a:ext uri="{FF2B5EF4-FFF2-40B4-BE49-F238E27FC236}">
                <a16:creationId xmlns:a16="http://schemas.microsoft.com/office/drawing/2014/main" id="{25882D80-35E9-4A61-975F-9A3E24AD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956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sensitivity-anchor">
            <a:extLst xmlns:a="http://schemas.openxmlformats.org/drawingml/2006/main">
              <a:ext uri="{FF2B5EF4-FFF2-40B4-BE49-F238E27FC236}">
                <a16:creationId xmlns:a16="http://schemas.microsoft.com/office/drawing/2014/main" id="{9598AE8E-FFA8-4786-90E2-121D76D7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95875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scenarios-anchor">
            <a:extLst xmlns:a="http://schemas.openxmlformats.org/drawingml/2006/main">
              <a:ext uri="{FF2B5EF4-FFF2-40B4-BE49-F238E27FC236}">
                <a16:creationId xmlns:a16="http://schemas.microsoft.com/office/drawing/2014/main" id="{B8EB5FB1-1DD1-4E96-852B-846ECC87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95875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interpret-anchor">
            <a:extLst xmlns:a="http://schemas.openxmlformats.org/drawingml/2006/main">
              <a:ext uri="{FF2B5EF4-FFF2-40B4-BE49-F238E27FC236}">
                <a16:creationId xmlns:a16="http://schemas.microsoft.com/office/drawing/2014/main" id="{C9F334EB-08DD-498C-9E2A-5B0D588B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4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019300" y="149542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9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286250" y="14954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9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524625" y="14954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9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63000" y="14954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98" name=""/>
          <p:cNvCxnSpPr>
            <a:stCxn xmlns:a="http://schemas.openxmlformats.org/drawingml/2006/main" id="7" idx="3"/>
            <a:endCxn xmlns:a="http://schemas.openxmlformats.org/drawingml/2006/main" id="8" idx="3"/>
          </p:cNvCxnSpPr>
          <p:nvPr/>
        </p:nvCxnSpPr>
        <p:spPr>
          <a:xfrm xmlns:a="http://schemas.openxmlformats.org/drawingml/2006/main">
            <a:off x="11477625" y="1495425"/>
            <a:ext cx="228600" cy="1952625"/>
          </a:xfrm>
          <a:prstGeom xmlns:a="http://schemas.openxmlformats.org/drawingml/2006/main" prst="bentConnector4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99" name="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8763000" y="34480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100" name="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6524625" y="34480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101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4286250" y="34480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102" name=""/>
          <p:cNvCxnSpPr>
            <a:stCxn xmlns:a="http://schemas.openxmlformats.org/drawingml/2006/main" id="11" idx="1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343150" y="3448050"/>
            <a:ext cx="228600" cy="2000250"/>
          </a:xfrm>
          <a:prstGeom xmlns:a="http://schemas.openxmlformats.org/drawingml/2006/main" prst="bentConnector4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103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667250" y="54483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104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381875" y="54483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sp>
        <p:nvSpPr>
          <p:cNvPr id="26" name="experiment-input-log">
            <a:extLst xmlns:a="http://schemas.openxmlformats.org/drawingml/2006/main">
              <a:ext uri="{FF2B5EF4-FFF2-40B4-BE49-F238E27FC236}">
                <a16:creationId xmlns:a16="http://schemas.microsoft.com/office/drawing/2014/main" id="{80107DB4-FC0B-420B-8A6A-C138B1CF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619250" cy="7048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5D5D5D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7465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Simulation-ready event log</a:t>
            </a:r>
          </a:p>
        </p:txBody>
      </p:sp>
      <p:sp>
        <p:nvSpPr>
          <p:cNvPr id="27" name="experiment-input-log-description">
            <a:extLst xmlns:a="http://schemas.openxmlformats.org/drawingml/2006/main">
              <a:ext uri="{FF2B5EF4-FFF2-40B4-BE49-F238E27FC236}">
                <a16:creationId xmlns:a16="http://schemas.microsoft.com/office/drawing/2014/main" id="{34CBF5D4-1EC0-489C-8B8B-E0196039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14525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Full CTB event log</a:t>
            </a:r>
          </a:p>
        </p:txBody>
      </p:sp>
      <p:sp>
        <p:nvSpPr>
          <p:cNvPr id="28" name="temporal-split">
            <a:extLst xmlns:a="http://schemas.openxmlformats.org/drawingml/2006/main">
              <a:ext uri="{FF2B5EF4-FFF2-40B4-BE49-F238E27FC236}">
                <a16:creationId xmlns:a16="http://schemas.microsoft.com/office/drawing/2014/main" id="{1EB71922-4A07-4B8A-B608-E436AFA4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14300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Temporal 80/20 split</a:t>
            </a:r>
          </a:p>
        </p:txBody>
      </p:sp>
      <p:sp>
        <p:nvSpPr>
          <p:cNvPr id="29" name="temporal-split-description">
            <a:extLst xmlns:a="http://schemas.openxmlformats.org/drawingml/2006/main">
              <a:ext uri="{FF2B5EF4-FFF2-40B4-BE49-F238E27FC236}">
                <a16:creationId xmlns:a16="http://schemas.microsoft.com/office/drawing/2014/main" id="{3BB7CD1A-4953-4137-8394-F3B4BF83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914525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9830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Train on the earlier period; test on the later period</a:t>
            </a:r>
          </a:p>
        </p:txBody>
      </p:sp>
      <p:sp>
        <p:nvSpPr>
          <p:cNvPr id="30" name="inductive-miner">
            <a:extLst xmlns:a="http://schemas.openxmlformats.org/drawingml/2006/main">
              <a:ext uri="{FF2B5EF4-FFF2-40B4-BE49-F238E27FC236}">
                <a16:creationId xmlns:a16="http://schemas.microsoft.com/office/drawing/2014/main" id="{3AAF4A0D-8F7B-4FEB-B5E3-E06E5CEB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14300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Initial process discovery</a:t>
            </a:r>
          </a:p>
        </p:txBody>
      </p:sp>
      <p:sp>
        <p:nvSpPr>
          <p:cNvPr id="31" name="inductive-miner-description">
            <a:extLst xmlns:a="http://schemas.openxmlformats.org/drawingml/2006/main">
              <a:ext uri="{FF2B5EF4-FFF2-40B4-BE49-F238E27FC236}">
                <a16:creationId xmlns:a16="http://schemas.microsoft.com/office/drawing/2014/main" id="{387F0F94-8DC7-4A0A-B42A-D6047DBD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914525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Inductive Miner produces a generalised Petri net</a:t>
            </a:r>
          </a:p>
        </p:txBody>
      </p:sp>
      <p:sp>
        <p:nvSpPr>
          <p:cNvPr id="32" name="domain-audit">
            <a:extLst xmlns:a="http://schemas.openxmlformats.org/drawingml/2006/main">
              <a:ext uri="{FF2B5EF4-FFF2-40B4-BE49-F238E27FC236}">
                <a16:creationId xmlns:a16="http://schemas.microsoft.com/office/drawing/2014/main" id="{9486EF92-1543-4CE9-9C22-E52C778C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14300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Domain audit</a:t>
            </a:r>
          </a:p>
        </p:txBody>
      </p:sp>
      <p:sp>
        <p:nvSpPr>
          <p:cNvPr id="33" name="domain-audit-description">
            <a:extLst xmlns:a="http://schemas.openxmlformats.org/drawingml/2006/main">
              <a:ext uri="{FF2B5EF4-FFF2-40B4-BE49-F238E27FC236}">
                <a16:creationId xmlns:a16="http://schemas.microsoft.com/office/drawing/2014/main" id="{022694EE-3A79-4F8A-856D-12BC9987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14525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870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Parallel execution violates the sequential truck-visit contract</a:t>
            </a:r>
          </a:p>
        </p:txBody>
      </p:sp>
      <p:sp>
        <p:nvSpPr>
          <p:cNvPr id="34" name="prefix-trie">
            <a:extLst xmlns:a="http://schemas.openxmlformats.org/drawingml/2006/main">
              <a:ext uri="{FF2B5EF4-FFF2-40B4-BE49-F238E27FC236}">
                <a16:creationId xmlns:a16="http://schemas.microsoft.com/office/drawing/2014/main" id="{02BE7A08-A393-4846-B634-601007E3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14300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Prefix-trie process skeleton</a:t>
            </a:r>
          </a:p>
        </p:txBody>
      </p:sp>
      <p:sp>
        <p:nvSpPr>
          <p:cNvPr id="35" name="prefix-trie-description">
            <a:extLst xmlns:a="http://schemas.openxmlformats.org/drawingml/2006/main">
              <a:ext uri="{FF2B5EF4-FFF2-40B4-BE49-F238E27FC236}">
                <a16:creationId xmlns:a16="http://schemas.microsoft.com/office/drawing/2014/main" id="{16F15C66-86C1-4474-BE8E-ADD4E038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914525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9824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Memorise training variants; check held-out coverage and case order</a:t>
            </a:r>
          </a:p>
        </p:txBody>
      </p:sp>
      <p:sp>
        <p:nvSpPr>
          <p:cNvPr id="36" name="prosit-discovery">
            <a:extLst xmlns:a="http://schemas.openxmlformats.org/drawingml/2006/main">
              <a:ext uri="{FF2B5EF4-FFF2-40B4-BE49-F238E27FC236}">
                <a16:creationId xmlns:a16="http://schemas.microsoft.com/office/drawing/2014/main" id="{E7CCDC7E-9CE5-4505-8736-63FFA515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95625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Discover simulation parameters</a:t>
            </a:r>
          </a:p>
        </p:txBody>
      </p:sp>
      <p:sp>
        <p:nvSpPr>
          <p:cNvPr id="37" name="prosit-discovery-description">
            <a:extLst xmlns:a="http://schemas.openxmlformats.org/drawingml/2006/main">
              <a:ext uri="{FF2B5EF4-FFF2-40B4-BE49-F238E27FC236}">
                <a16:creationId xmlns:a16="http://schemas.microsoft.com/office/drawing/2014/main" id="{CF4EB27D-4F9F-49E2-86DB-1C4FED68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8671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no-rules, rules and rules + workload configurations</a:t>
            </a:r>
          </a:p>
        </p:txBody>
      </p:sp>
      <p:sp>
        <p:nvSpPr>
          <p:cNvPr id="38" name="freeze-calibrate">
            <a:extLst xmlns:a="http://schemas.openxmlformats.org/drawingml/2006/main">
              <a:ext uri="{FF2B5EF4-FFF2-40B4-BE49-F238E27FC236}">
                <a16:creationId xmlns:a16="http://schemas.microsoft.com/office/drawing/2014/main" id="{CD2ACFFA-46D2-4C8A-8996-81306774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95625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Freeze and calibrate</a:t>
            </a:r>
          </a:p>
        </p:txBody>
      </p:sp>
      <p:sp>
        <p:nvSpPr>
          <p:cNvPr id="39" name="freeze-calibrate-description">
            <a:extLst xmlns:a="http://schemas.openxmlformats.org/drawingml/2006/main">
              <a:ext uri="{FF2B5EF4-FFF2-40B4-BE49-F238E27FC236}">
                <a16:creationId xmlns:a16="http://schemas.microsoft.com/office/drawing/2014/main" id="{C3BD800F-F1F0-4333-8AAF-D61710BB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671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96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Authoritative bundles; final RMG capacity cap of three</a:t>
            </a:r>
          </a:p>
        </p:txBody>
      </p:sp>
      <p:sp>
        <p:nvSpPr>
          <p:cNvPr id="40" name="monte-carlo">
            <a:extLst xmlns:a="http://schemas.openxmlformats.org/drawingml/2006/main">
              <a:ext uri="{FF2B5EF4-FFF2-40B4-BE49-F238E27FC236}">
                <a16:creationId xmlns:a16="http://schemas.microsoft.com/office/drawing/2014/main" id="{9C95DA11-6F39-4CF9-AEEB-2B9EF0CD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95625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Run simulations</a:t>
            </a:r>
          </a:p>
        </p:txBody>
      </p:sp>
      <p:sp>
        <p:nvSpPr>
          <p:cNvPr id="41" name="monte-carlo-description">
            <a:extLst xmlns:a="http://schemas.openxmlformats.org/drawingml/2006/main">
              <a:ext uri="{FF2B5EF4-FFF2-40B4-BE49-F238E27FC236}">
                <a16:creationId xmlns:a16="http://schemas.microsoft.com/office/drawing/2014/main" id="{4834005D-DF01-4FDF-9871-90F7F765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8671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Ten seeds (42--51) with 17,892 cases per run</a:t>
            </a:r>
          </a:p>
        </p:txBody>
      </p:sp>
      <p:sp>
        <p:nvSpPr>
          <p:cNvPr id="42" name="held-out-evaluation">
            <a:extLst xmlns:a="http://schemas.openxmlformats.org/drawingml/2006/main">
              <a:ext uri="{FF2B5EF4-FFF2-40B4-BE49-F238E27FC236}">
                <a16:creationId xmlns:a16="http://schemas.microsoft.com/office/drawing/2014/main" id="{63116925-950B-4949-9691-435A5A69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95625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Evaluate held-out fidelity</a:t>
            </a:r>
          </a:p>
        </p:txBody>
      </p:sp>
      <p:sp>
        <p:nvSpPr>
          <p:cNvPr id="43" name="held-out-evaluation-description">
            <a:extLst xmlns:a="http://schemas.openxmlformats.org/drawingml/2006/main">
              <a:ext uri="{FF2B5EF4-FFF2-40B4-BE49-F238E27FC236}">
                <a16:creationId xmlns:a16="http://schemas.microsoft.com/office/drawing/2014/main" id="{6579EEFC-522A-471D-8CA0-5E026925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671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8676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EMD, KS, KPI errors, activity rates and confidence intervals</a:t>
            </a:r>
          </a:p>
        </p:txBody>
      </p:sp>
      <p:sp>
        <p:nvSpPr>
          <p:cNvPr id="44" name="robustness-sensitivity">
            <a:extLst xmlns:a="http://schemas.openxmlformats.org/drawingml/2006/main">
              <a:ext uri="{FF2B5EF4-FFF2-40B4-BE49-F238E27FC236}">
                <a16:creationId xmlns:a16="http://schemas.microsoft.com/office/drawing/2014/main" id="{97E4D69B-2E50-41B8-B4A8-D15FDF25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95875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Robustness and sensitivity</a:t>
            </a:r>
          </a:p>
        </p:txBody>
      </p:sp>
      <p:sp>
        <p:nvSpPr>
          <p:cNvPr id="45" name="robustness-sensitivity-description">
            <a:extLst xmlns:a="http://schemas.openxmlformats.org/drawingml/2006/main">
              <a:ext uri="{FF2B5EF4-FFF2-40B4-BE49-F238E27FC236}">
                <a16:creationId xmlns:a16="http://schemas.microsoft.com/office/drawing/2014/main" id="{0487F38C-DDB6-47A1-9B55-6BBF2265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8674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8891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Configuration screening, arrivals, resources and transition percentiles</a:t>
            </a:r>
          </a:p>
        </p:txBody>
      </p:sp>
      <p:sp>
        <p:nvSpPr>
          <p:cNvPr id="46" name="what-if-scenarios">
            <a:extLst xmlns:a="http://schemas.openxmlformats.org/drawingml/2006/main">
              <a:ext uri="{FF2B5EF4-FFF2-40B4-BE49-F238E27FC236}">
                <a16:creationId xmlns:a16="http://schemas.microsoft.com/office/drawing/2014/main" id="{674EBD0A-6199-4ACE-8E73-AD25FFD5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95875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What-if experiments</a:t>
            </a:r>
          </a:p>
        </p:txBody>
      </p:sp>
      <p:sp>
        <p:nvSpPr>
          <p:cNvPr id="47" name="what-if-scenarios-description">
            <a:extLst xmlns:a="http://schemas.openxmlformats.org/drawingml/2006/main">
              <a:ext uri="{FF2B5EF4-FFF2-40B4-BE49-F238E27FC236}">
                <a16:creationId xmlns:a16="http://schemas.microsoft.com/office/drawing/2014/main" id="{BF08E2E4-20AE-4DDA-8F92-E8E236EE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58674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9650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T22 reallocation and 20% higher working-time truck demand</a:t>
            </a:r>
          </a:p>
        </p:txBody>
      </p:sp>
      <p:sp>
        <p:nvSpPr>
          <p:cNvPr id="48" name="critical-interpretation">
            <a:extLst xmlns:a="http://schemas.openxmlformats.org/drawingml/2006/main">
              <a:ext uri="{FF2B5EF4-FFF2-40B4-BE49-F238E27FC236}">
                <a16:creationId xmlns:a16="http://schemas.microsoft.com/office/drawing/2014/main" id="{CB8A6936-FCE5-4A3E-A23B-40547EDE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Interpret results and answer RQs</a:t>
            </a:r>
          </a:p>
        </p:txBody>
      </p:sp>
      <p:sp>
        <p:nvSpPr>
          <p:cNvPr id="49" name="critical-interpretation-description">
            <a:extLst xmlns:a="http://schemas.openxmlformats.org/drawingml/2006/main">
              <a:ext uri="{FF2B5EF4-FFF2-40B4-BE49-F238E27FC236}">
                <a16:creationId xmlns:a16="http://schemas.microsoft.com/office/drawing/2014/main" id="{469470DA-6737-488E-A472-0AC8430F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867400"/>
            <a:ext cx="293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Separate executable model responses from physically valid operational claims</a:t>
            </a:r>
          </a:p>
        </p:txBody>
      </p:sp>
      <p:sp>
        <p:nvSpPr>
          <p:cNvPr id="50" name="bubble-pm4py">
            <a:extLst xmlns:a="http://schemas.openxmlformats.org/drawingml/2006/main">
              <a:ext uri="{FF2B5EF4-FFF2-40B4-BE49-F238E27FC236}">
                <a16:creationId xmlns:a16="http://schemas.microsoft.com/office/drawing/2014/main" id="{15C4B41A-3A98-499F-ACBE-FB0FDAF9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742950"/>
            <a:ext cx="952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3335">
            <a:solidFill>
              <a:srgbClr val="5D5D5D"/>
            </a:solidFill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8660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D5D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5D5D"/>
                </a:solidFill>
                <a:latin typeface="Arial"/>
                <a:ea typeface="Arial"/>
                <a:cs typeface="Arial"/>
              </a:rPr>
              <a:t>PM4Py</a:t>
            </a:r>
          </a:p>
        </p:txBody>
      </p:sp>
      <p:sp>
        <p:nvSpPr>
          <p:cNvPr id="51" name="bubble-domain-rule">
            <a:extLst xmlns:a="http://schemas.openxmlformats.org/drawingml/2006/main">
              <a:ext uri="{FF2B5EF4-FFF2-40B4-BE49-F238E27FC236}">
                <a16:creationId xmlns:a16="http://schemas.microsoft.com/office/drawing/2014/main" id="{FEE5EB1C-C890-41DA-926C-7C0EA186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723900"/>
            <a:ext cx="12382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3335">
            <a:solidFill>
              <a:srgbClr val="5D5D5D"/>
            </a:solidFill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485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D5D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5D5D"/>
                </a:solidFill>
                <a:latin typeface="Arial"/>
                <a:ea typeface="Arial"/>
                <a:cs typeface="Arial"/>
              </a:rPr>
              <a:t>one truck = sequential</a:t>
            </a:r>
          </a:p>
        </p:txBody>
      </p:sp>
      <p:sp>
        <p:nvSpPr>
          <p:cNvPr id="52" name="bubble-prosit">
            <a:extLst xmlns:a="http://schemas.openxmlformats.org/drawingml/2006/main">
              <a:ext uri="{FF2B5EF4-FFF2-40B4-BE49-F238E27FC236}">
                <a16:creationId xmlns:a16="http://schemas.microsoft.com/office/drawing/2014/main" id="{39A18D52-DAF2-4BD4-879F-AFACA4BE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0"/>
            <a:ext cx="11430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3335">
            <a:solidFill>
              <a:srgbClr val="5D5D5D"/>
            </a:solidFill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8660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D5D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5D5D"/>
                </a:solidFill>
                <a:latin typeface="Arial"/>
                <a:ea typeface="Arial"/>
                <a:cs typeface="Arial"/>
              </a:rPr>
              <a:t>ProSiT</a:t>
            </a:r>
          </a:p>
        </p:txBody>
      </p:sp>
      <p:sp>
        <p:nvSpPr>
          <p:cNvPr id="53" name="bubble-seeds">
            <a:extLst xmlns:a="http://schemas.openxmlformats.org/drawingml/2006/main">
              <a:ext uri="{FF2B5EF4-FFF2-40B4-BE49-F238E27FC236}">
                <a16:creationId xmlns:a16="http://schemas.microsoft.com/office/drawing/2014/main" id="{6C7AC3E3-E2F5-4E73-8215-F51861DA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67000"/>
            <a:ext cx="11430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3335">
            <a:solidFill>
              <a:srgbClr val="5D5D5D"/>
            </a:solidFill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8660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D5D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5D5D"/>
                </a:solidFill>
                <a:latin typeface="Arial"/>
                <a:ea typeface="Arial"/>
                <a:cs typeface="Arial"/>
              </a:rPr>
              <a:t>10 seeds</a:t>
            </a:r>
          </a:p>
        </p:txBody>
      </p:sp>
      <p:sp>
        <p:nvSpPr>
          <p:cNvPr id="54" name="bubble-metrics">
            <a:extLst xmlns:a="http://schemas.openxmlformats.org/drawingml/2006/main">
              <a:ext uri="{FF2B5EF4-FFF2-40B4-BE49-F238E27FC236}">
                <a16:creationId xmlns:a16="http://schemas.microsoft.com/office/drawing/2014/main" id="{7F35B686-E3A8-426E-A766-04BAB43C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47950"/>
            <a:ext cx="114300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3335">
            <a:solidFill>
              <a:srgbClr val="5D5D5D"/>
            </a:solidFill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6178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D5D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5D5D"/>
                </a:solidFill>
                <a:latin typeface="Arial"/>
                <a:ea typeface="Arial"/>
                <a:cs typeface="Arial"/>
              </a:rPr>
              <a:t>EMD / KS / KPIs</a:t>
            </a:r>
          </a:p>
        </p:txBody>
      </p:sp>
    </p:spTree>
    <p:extLst>
      <p:ext uri="{BB962C8B-B14F-4D97-AF65-F5344CB8AC3E}">
        <p14:creationId xmlns:p14="http://schemas.microsoft.com/office/powerpoint/2010/main" val="12203114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242424"/>
      </a:dk2>
      <a:lt2>
        <a:srgbClr val="E8E8E8"/>
      </a:lt2>
      <a:accent1>
        <a:srgbClr val="535353"/>
      </a:accent1>
      <a:accent2>
        <a:srgbClr val="868686"/>
      </a:accent2>
      <a:accent3>
        <a:srgbClr val="545454"/>
      </a:accent3>
      <a:accent4>
        <a:srgbClr val="848484"/>
      </a:accent4>
      <a:accent5>
        <a:srgbClr val="4B4B4B"/>
      </a:accent5>
      <a:accent6>
        <a:srgbClr val="8B8B8B"/>
      </a:accent6>
      <a:hlink>
        <a:srgbClr val="6E6E6E"/>
      </a:hlink>
      <a:folHlink>
        <a:srgbClr val="6E6E6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2026-08-24T15:48:55.7460000Z</dcterms:created>
  <dcterms:modified xsi:type="dcterms:W3CDTF">2026-08-24T15:48:55.7460000Z</dcterms:modified>
</coreProperties>
</file>